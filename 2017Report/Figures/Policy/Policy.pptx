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1A1C"/>
    <a:srgbClr val="F781BF"/>
    <a:srgbClr val="A65628"/>
    <a:srgbClr val="E2A700"/>
    <a:srgbClr val="FF7F00"/>
    <a:srgbClr val="984EA3"/>
    <a:srgbClr val="4DAF4A"/>
    <a:srgbClr val="377EB8"/>
    <a:srgbClr val="0033CC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BEACE-8131-4FBA-912B-EE431C88F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4584-EC69-43AF-A351-0BD686C23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3F7B-EEBE-4923-918C-3108EEF9D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EBC26-6AB3-4033-96A4-7972F86E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50ED5-663D-4E73-A736-0393A0F4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0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6005F-1C3F-406C-8C48-AD4A3ACF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1E92-2611-4091-9F47-6AB4F61EF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3B249-85FA-41CB-86DD-A38EE04F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C5343-900A-4EB8-84DD-7DC7E0EC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196B3-CD97-41B5-B5C0-90405409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6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33FD-206B-4E18-8530-56CCDFD9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F12A4-D9E1-4177-A523-25395C159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DEAAF-9397-4517-8F6D-E9DB05E10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D571-EA79-4DBB-9958-A5B2B71A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6C39A-C450-4016-AA8E-3F418D57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1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1A4D-48DB-4812-92B4-7A79A590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9DA5A-14FA-4941-9C21-CFBBF1DBB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63287-A1EA-4307-B14E-46D7EE516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DC53E-56E9-4D5D-A13D-D9F02A07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D926F-C53B-47AE-AC3D-DDF503FCC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4F4DC-38A3-40BD-89E4-BD020578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3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4940-BA24-4977-833B-5E9466E13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43DFD-8602-4D63-9E5A-81DF94318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BADE7-CF0D-4D07-8020-91F935F1B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FF4A7-26EB-409A-B60B-A74F9669C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67937-EB7F-4B71-BF2E-BAB5C4C7F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21763-DC01-4898-BC34-E183BFC9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FC64F4-634A-46B9-914E-09B01585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CDC35-DFB0-4F1B-BB71-14B5ED37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8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EF05-3F84-4B0E-BB2C-45D4DFCA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D92C60-64B3-4DC2-9E10-99A8FAA0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496AE-505C-4EDF-80E3-01D00915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48CF4-D31C-4128-8F4F-E8DA3EF40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6D679-1574-4F82-A017-F1B772BB6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BC594-AC41-48D3-932B-4B0AB7DE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D8049-7951-41AD-A887-6A5E90044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2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1E85-8562-4802-A946-260A5D3E4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DAB30-6E81-4586-B411-93C611AB7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49CD6-B691-4FCA-8054-09070ABEF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3795E-07EB-4D37-B039-510957F1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9AF02-3C8C-4768-8B4C-07E0E71F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1EDF6-DB7B-4340-BC3C-947D5311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0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2522-4DFF-45AE-968E-DA60CA26C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A308D6-1149-460B-843E-FF87B6779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24737-2689-4923-BF3B-2DDBDCC59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41F7-999B-4834-8B8E-C845747A8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FBDFE-A615-4DD3-8842-0E91D19AF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56D91-FED5-4991-8B7A-D29EDEC8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2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DB7C8-6550-4653-AAA4-B71D657D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0D249-7A9F-412C-85F2-1533B64D6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002B4-19C2-4ECE-BD2C-3E92C252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99FAA-CB5E-4ECF-B2C5-EAB62F54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1DD2-F539-4D53-9D92-097C0632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7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2C14F1-D138-437E-8044-783C6193C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7E818-1AD5-482B-9F3C-4FC1D5F6A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B2E13-6D34-485D-ABBB-07FF5EFE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956A1-81F0-48D9-9A79-61AA2610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2DCB9-9480-4D25-A872-AA275A7E1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8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1DDB4-FF08-4091-8401-59382A774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A2C5C-199F-42F0-BC96-3DD480E80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ACDA1-8E56-45B2-B712-9A753A017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882A8-7AB0-490C-B0C9-495FF78AD7A1}" type="datetimeFigureOut">
              <a:rPr lang="en-US" smtClean="0"/>
              <a:t>11/19/2018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BF1F2-12CF-4788-B014-2887704FF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7F6EE-0319-428C-98BC-F0221A11C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1A60B-C340-4194-BD07-CD7CCAE60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3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F6A09C4-97D3-400D-8C01-6709C30E229C}"/>
              </a:ext>
            </a:extLst>
          </p:cNvPr>
          <p:cNvGrpSpPr/>
          <p:nvPr/>
        </p:nvGrpSpPr>
        <p:grpSpPr>
          <a:xfrm>
            <a:off x="3135337" y="1703924"/>
            <a:ext cx="5921325" cy="3450152"/>
            <a:chOff x="2973418" y="1132365"/>
            <a:chExt cx="5921325" cy="345015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6DD28D-DC7F-4B69-87CD-550286E03655}"/>
                </a:ext>
              </a:extLst>
            </p:cNvPr>
            <p:cNvCxnSpPr>
              <a:cxnSpLocks/>
            </p:cNvCxnSpPr>
            <p:nvPr/>
          </p:nvCxnSpPr>
          <p:spPr>
            <a:xfrm>
              <a:off x="2973418" y="3164816"/>
              <a:ext cx="571464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F527E09-2606-440E-B5CA-B4FEB0E8E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516" y="2123357"/>
              <a:ext cx="0" cy="1041460"/>
            </a:xfrm>
            <a:prstGeom prst="line">
              <a:avLst/>
            </a:prstGeom>
            <a:ln w="15875">
              <a:solidFill>
                <a:srgbClr val="E41A1C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AF03E53-A4F4-426E-B597-6CA133B63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93435" y="3164816"/>
              <a:ext cx="0" cy="1041460"/>
            </a:xfrm>
            <a:prstGeom prst="line">
              <a:avLst/>
            </a:prstGeom>
            <a:ln w="15875">
              <a:solidFill>
                <a:srgbClr val="377EB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2C6DE5C-A899-436F-8199-6CA76BCF0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6193" y="2123356"/>
              <a:ext cx="0" cy="1041460"/>
            </a:xfrm>
            <a:prstGeom prst="line">
              <a:avLst/>
            </a:prstGeom>
            <a:ln w="15875">
              <a:solidFill>
                <a:srgbClr val="FF7F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9995921-AB3A-4868-96C4-36EC061F7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4354" y="2123356"/>
              <a:ext cx="0" cy="1041460"/>
            </a:xfrm>
            <a:prstGeom prst="line">
              <a:avLst/>
            </a:prstGeom>
            <a:ln w="15875">
              <a:solidFill>
                <a:srgbClr val="4DAF4A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FF9232-150C-483F-A6F6-0E1F74DD5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5273" y="3164816"/>
              <a:ext cx="0" cy="1041460"/>
            </a:xfrm>
            <a:prstGeom prst="line">
              <a:avLst/>
            </a:prstGeom>
            <a:ln w="15875">
              <a:solidFill>
                <a:srgbClr val="984EA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9D70217-ADFE-4228-A763-3C2913324042}"/>
                </a:ext>
              </a:extLst>
            </p:cNvPr>
            <p:cNvSpPr/>
            <p:nvPr/>
          </p:nvSpPr>
          <p:spPr>
            <a:xfrm>
              <a:off x="3264727" y="1739421"/>
              <a:ext cx="1547218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5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Executive </a:t>
              </a:r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  <a:r>
                <a:rPr lang="en-US" sz="105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13101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705F892-E26F-4F3E-8DB2-A99446AEBA9A}"/>
                </a:ext>
              </a:extLst>
            </p:cNvPr>
            <p:cNvSpPr/>
            <p:nvPr/>
          </p:nvSpPr>
          <p:spPr>
            <a:xfrm>
              <a:off x="3043703" y="3355932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E41A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1998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D444B90-6ECF-4785-868B-CC0DEA5BB413}"/>
                </a:ext>
              </a:extLst>
            </p:cNvPr>
            <p:cNvSpPr/>
            <p:nvPr/>
          </p:nvSpPr>
          <p:spPr>
            <a:xfrm>
              <a:off x="4013387" y="2674634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377E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1999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53114F3-91C7-469D-BDD2-EE3AF2F0432F}"/>
                </a:ext>
              </a:extLst>
            </p:cNvPr>
            <p:cNvSpPr/>
            <p:nvPr/>
          </p:nvSpPr>
          <p:spPr>
            <a:xfrm>
              <a:off x="5045540" y="3355932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4DAF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1D6840C-E5B2-4FA8-B68E-526E6EDAA11E}"/>
                </a:ext>
              </a:extLst>
            </p:cNvPr>
            <p:cNvSpPr/>
            <p:nvPr/>
          </p:nvSpPr>
          <p:spPr>
            <a:xfrm>
              <a:off x="6046459" y="2644086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984E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2008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BD0F732-7A5D-4AA0-91A0-50F24557DAC9}"/>
                </a:ext>
              </a:extLst>
            </p:cNvPr>
            <p:cNvSpPr/>
            <p:nvPr/>
          </p:nvSpPr>
          <p:spPr>
            <a:xfrm>
              <a:off x="7047380" y="3347023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FF7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2014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AF41832-2037-4F63-9152-94680934C312}"/>
                </a:ext>
              </a:extLst>
            </p:cNvPr>
            <p:cNvSpPr/>
            <p:nvPr/>
          </p:nvSpPr>
          <p:spPr>
            <a:xfrm>
              <a:off x="4272732" y="4336296"/>
              <a:ext cx="148790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Executive Order 13134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1F4A4CB-CF15-4842-8D11-4974CCC68DCF}"/>
                </a:ext>
              </a:extLst>
            </p:cNvPr>
            <p:cNvSpPr/>
            <p:nvPr/>
          </p:nvSpPr>
          <p:spPr>
            <a:xfrm>
              <a:off x="5200400" y="1593226"/>
              <a:ext cx="18181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 Farm Bill </a:t>
              </a:r>
            </a:p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USDA BioPreferred Program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62113AB-3209-494D-8688-5EEF8DF04AF1}"/>
                </a:ext>
              </a:extLst>
            </p:cNvPr>
            <p:cNvSpPr/>
            <p:nvPr/>
          </p:nvSpPr>
          <p:spPr>
            <a:xfrm>
              <a:off x="6266256" y="4336296"/>
              <a:ext cx="100860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2008 Farm Bill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D66B630-D05E-4AD2-9837-4C0937CE53B3}"/>
                </a:ext>
              </a:extLst>
            </p:cNvPr>
            <p:cNvSpPr/>
            <p:nvPr/>
          </p:nvSpPr>
          <p:spPr>
            <a:xfrm>
              <a:off x="7274865" y="1132365"/>
              <a:ext cx="1619878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2014 Farm Bill </a:t>
              </a:r>
            </a:p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Biorefinery, Renewable Chemical, and Biobased Product Manufacturing Assistance Program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597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2284408-2FFC-4208-8AA3-126CC383FCC0}"/>
              </a:ext>
            </a:extLst>
          </p:cNvPr>
          <p:cNvGrpSpPr/>
          <p:nvPr/>
        </p:nvGrpSpPr>
        <p:grpSpPr>
          <a:xfrm>
            <a:off x="3302387" y="1704217"/>
            <a:ext cx="5587225" cy="3449565"/>
            <a:chOff x="1808024" y="1339986"/>
            <a:chExt cx="5587225" cy="344956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26CCBE6-ACFA-44D6-B1CE-400CA4BE08AF}"/>
                </a:ext>
              </a:extLst>
            </p:cNvPr>
            <p:cNvCxnSpPr>
              <a:cxnSpLocks/>
            </p:cNvCxnSpPr>
            <p:nvPr/>
          </p:nvCxnSpPr>
          <p:spPr>
            <a:xfrm>
              <a:off x="1808024" y="3371850"/>
              <a:ext cx="5587225" cy="0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31E736-4184-40C0-944F-A32302A78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1633" y="2330391"/>
              <a:ext cx="0" cy="1041460"/>
            </a:xfrm>
            <a:prstGeom prst="line">
              <a:avLst/>
            </a:prstGeom>
            <a:ln w="15875">
              <a:solidFill>
                <a:srgbClr val="E41A1C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FCF618-9F6A-4AC6-92B9-1674B7720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82552" y="3371850"/>
              <a:ext cx="0" cy="1041460"/>
            </a:xfrm>
            <a:prstGeom prst="line">
              <a:avLst/>
            </a:prstGeom>
            <a:ln w="15875">
              <a:solidFill>
                <a:srgbClr val="377EB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549039-48DA-4E98-8B6A-57515A5C0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10" y="2330390"/>
              <a:ext cx="0" cy="1041460"/>
            </a:xfrm>
            <a:prstGeom prst="line">
              <a:avLst/>
            </a:prstGeom>
            <a:ln w="15875">
              <a:solidFill>
                <a:srgbClr val="FF7F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B16B52-E609-452B-84B2-BFE7892870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3471" y="2330390"/>
              <a:ext cx="0" cy="1041460"/>
            </a:xfrm>
            <a:prstGeom prst="line">
              <a:avLst/>
            </a:prstGeom>
            <a:ln w="15875">
              <a:solidFill>
                <a:srgbClr val="4DAF4A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43829E-32AB-412E-8FE8-5772A7559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4390" y="3371850"/>
              <a:ext cx="0" cy="1041460"/>
            </a:xfrm>
            <a:prstGeom prst="line">
              <a:avLst/>
            </a:prstGeom>
            <a:ln w="15875">
              <a:solidFill>
                <a:srgbClr val="984EA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32DFB5-2059-4F45-9AB9-371C6E5F0A7B}"/>
                </a:ext>
              </a:extLst>
            </p:cNvPr>
            <p:cNvSpPr/>
            <p:nvPr/>
          </p:nvSpPr>
          <p:spPr>
            <a:xfrm>
              <a:off x="1808024" y="1946454"/>
              <a:ext cx="1547218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5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Executive </a:t>
              </a:r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Order</a:t>
              </a:r>
              <a:r>
                <a:rPr lang="en-US" sz="105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13101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8C0C2D-B5B1-422A-B80A-FEBA11EDC945}"/>
                </a:ext>
              </a:extLst>
            </p:cNvPr>
            <p:cNvSpPr/>
            <p:nvPr/>
          </p:nvSpPr>
          <p:spPr>
            <a:xfrm>
              <a:off x="2232820" y="3562966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E41A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77EDE6-6E9A-4B8E-AD04-9AA4B0C2822E}"/>
                </a:ext>
              </a:extLst>
            </p:cNvPr>
            <p:cNvSpPr/>
            <p:nvPr/>
          </p:nvSpPr>
          <p:spPr>
            <a:xfrm>
              <a:off x="3202504" y="2881668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377E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1999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2C0695-2340-4A5E-9C2B-359DF88CF453}"/>
                </a:ext>
              </a:extLst>
            </p:cNvPr>
            <p:cNvSpPr/>
            <p:nvPr/>
          </p:nvSpPr>
          <p:spPr>
            <a:xfrm>
              <a:off x="4234657" y="3562966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4DAF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71AFDA-6AB4-4170-A1EA-C026BC9FB311}"/>
                </a:ext>
              </a:extLst>
            </p:cNvPr>
            <p:cNvSpPr/>
            <p:nvPr/>
          </p:nvSpPr>
          <p:spPr>
            <a:xfrm>
              <a:off x="5235576" y="2851120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984E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2008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992047-39DD-44FF-8404-BBF6CD62CFE2}"/>
                </a:ext>
              </a:extLst>
            </p:cNvPr>
            <p:cNvSpPr/>
            <p:nvPr/>
          </p:nvSpPr>
          <p:spPr>
            <a:xfrm>
              <a:off x="6236497" y="355405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FF7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E02B31-3D9F-4BE9-A3A2-97547D0B50FE}"/>
                </a:ext>
              </a:extLst>
            </p:cNvPr>
            <p:cNvSpPr/>
            <p:nvPr/>
          </p:nvSpPr>
          <p:spPr>
            <a:xfrm>
              <a:off x="2838598" y="4543330"/>
              <a:ext cx="148790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Executive Order 13134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AF2B7E-D2A2-4429-B400-9F6FDC2BFD43}"/>
                </a:ext>
              </a:extLst>
            </p:cNvPr>
            <p:cNvSpPr/>
            <p:nvPr/>
          </p:nvSpPr>
          <p:spPr>
            <a:xfrm>
              <a:off x="3674407" y="1800260"/>
              <a:ext cx="181812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 Farm Bill </a:t>
              </a:r>
            </a:p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USDA BioPreferred Program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3056D49-78C3-412A-906F-CFD0D1125448}"/>
                </a:ext>
              </a:extLst>
            </p:cNvPr>
            <p:cNvSpPr/>
            <p:nvPr/>
          </p:nvSpPr>
          <p:spPr>
            <a:xfrm>
              <a:off x="5080084" y="4543330"/>
              <a:ext cx="100860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2008 Farm Bill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A9AFAC2-9B98-402C-9D67-BA715A934FFB}"/>
                </a:ext>
              </a:extLst>
            </p:cNvPr>
            <p:cNvSpPr/>
            <p:nvPr/>
          </p:nvSpPr>
          <p:spPr>
            <a:xfrm>
              <a:off x="5775371" y="1339986"/>
              <a:ext cx="1619878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2014 Farm Bill </a:t>
              </a:r>
            </a:p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Biorefinery, Renewable Chemical, and Biobased Product Manufacturing Assistance Program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2582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4059F5B-55AB-41BA-8411-4C78E8893AF8}"/>
              </a:ext>
            </a:extLst>
          </p:cNvPr>
          <p:cNvGrpSpPr/>
          <p:nvPr/>
        </p:nvGrpSpPr>
        <p:grpSpPr>
          <a:xfrm>
            <a:off x="3028977" y="1666779"/>
            <a:ext cx="6134046" cy="3524442"/>
            <a:chOff x="1625239" y="1726774"/>
            <a:chExt cx="6134046" cy="352444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26CCBE6-ACFA-44D6-B1CE-400CA4BE08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8023" y="3354184"/>
              <a:ext cx="5775721" cy="17666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31E736-4184-40C0-944F-A32302A78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7783" y="2267542"/>
              <a:ext cx="0" cy="1097280"/>
            </a:xfrm>
            <a:prstGeom prst="line">
              <a:avLst/>
            </a:prstGeom>
            <a:ln w="15875">
              <a:solidFill>
                <a:srgbClr val="E41A1C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FCF618-9F6A-4AC6-92B9-1674B7720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7115" y="3371850"/>
              <a:ext cx="0" cy="1097280"/>
            </a:xfrm>
            <a:prstGeom prst="line">
              <a:avLst/>
            </a:prstGeom>
            <a:ln w="15875">
              <a:solidFill>
                <a:srgbClr val="377EB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549039-48DA-4E98-8B6A-57515A5C0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5111" y="2260716"/>
              <a:ext cx="0" cy="1097280"/>
            </a:xfrm>
            <a:prstGeom prst="line">
              <a:avLst/>
            </a:prstGeom>
            <a:ln w="15875">
              <a:solidFill>
                <a:srgbClr val="FF7F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B16B52-E609-452B-84B2-BFE7892870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6447" y="2548891"/>
              <a:ext cx="0" cy="822960"/>
            </a:xfrm>
            <a:prstGeom prst="line">
              <a:avLst/>
            </a:prstGeom>
            <a:ln w="15875">
              <a:solidFill>
                <a:srgbClr val="4DAF4A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43829E-32AB-412E-8FE8-5772A7559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5779" y="3371850"/>
              <a:ext cx="0" cy="822960"/>
            </a:xfrm>
            <a:prstGeom prst="line">
              <a:avLst/>
            </a:prstGeom>
            <a:ln w="15875">
              <a:solidFill>
                <a:srgbClr val="984EA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32DFB5-2059-4F45-9AB9-371C6E5F0A7B}"/>
                </a:ext>
              </a:extLst>
            </p:cNvPr>
            <p:cNvSpPr/>
            <p:nvPr/>
          </p:nvSpPr>
          <p:spPr>
            <a:xfrm>
              <a:off x="1625239" y="1726774"/>
              <a:ext cx="1268550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Policy and Conservation Act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8C0C2D-B5B1-422A-B80A-FEBA11EDC945}"/>
                </a:ext>
              </a:extLst>
            </p:cNvPr>
            <p:cNvSpPr/>
            <p:nvPr/>
          </p:nvSpPr>
          <p:spPr>
            <a:xfrm>
              <a:off x="1908969" y="344666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E41A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1975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77EDE6-6E9A-4B8E-AD04-9AA4B0C2822E}"/>
                </a:ext>
              </a:extLst>
            </p:cNvPr>
            <p:cNvSpPr/>
            <p:nvPr/>
          </p:nvSpPr>
          <p:spPr>
            <a:xfrm>
              <a:off x="2442331" y="2960371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377E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1978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2C0695-2340-4A5E-9C2B-359DF88CF453}"/>
                </a:ext>
              </a:extLst>
            </p:cNvPr>
            <p:cNvSpPr/>
            <p:nvPr/>
          </p:nvSpPr>
          <p:spPr>
            <a:xfrm>
              <a:off x="2967633" y="344666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4DAF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1988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71AFDA-6AB4-4170-A1EA-C026BC9FB311}"/>
                </a:ext>
              </a:extLst>
            </p:cNvPr>
            <p:cNvSpPr/>
            <p:nvPr/>
          </p:nvSpPr>
          <p:spPr>
            <a:xfrm>
              <a:off x="3492937" y="294752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984E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992047-39DD-44FF-8404-BBF6CD62CFE2}"/>
                </a:ext>
              </a:extLst>
            </p:cNvPr>
            <p:cNvSpPr/>
            <p:nvPr/>
          </p:nvSpPr>
          <p:spPr>
            <a:xfrm>
              <a:off x="4026297" y="344666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FF7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E02B31-3D9F-4BE9-A3A2-97547D0B50FE}"/>
                </a:ext>
              </a:extLst>
            </p:cNvPr>
            <p:cNvSpPr/>
            <p:nvPr/>
          </p:nvSpPr>
          <p:spPr>
            <a:xfrm>
              <a:off x="2241132" y="4541615"/>
              <a:ext cx="109196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Tax Act 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AF2B7E-D2A2-4429-B400-9F6FDC2BFD43}"/>
                </a:ext>
              </a:extLst>
            </p:cNvPr>
            <p:cNvSpPr/>
            <p:nvPr/>
          </p:nvSpPr>
          <p:spPr>
            <a:xfrm>
              <a:off x="2741427" y="2084392"/>
              <a:ext cx="118334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Alternative Motor Fuel Act 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3056D49-78C3-412A-906F-CFD0D1125448}"/>
                </a:ext>
              </a:extLst>
            </p:cNvPr>
            <p:cNvSpPr/>
            <p:nvPr/>
          </p:nvSpPr>
          <p:spPr>
            <a:xfrm>
              <a:off x="3155011" y="4352830"/>
              <a:ext cx="12202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Policy Act 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A9AFAC2-9B98-402C-9D67-BA715A934FFB}"/>
                </a:ext>
              </a:extLst>
            </p:cNvPr>
            <p:cNvSpPr/>
            <p:nvPr/>
          </p:nvSpPr>
          <p:spPr>
            <a:xfrm>
              <a:off x="3665260" y="1742162"/>
              <a:ext cx="143505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Biomass Research and Development Act 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A23C275-6C41-4C9F-A80C-92F51A509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4443" y="3371850"/>
              <a:ext cx="0" cy="1097280"/>
            </a:xfrm>
            <a:prstGeom prst="line">
              <a:avLst/>
            </a:prstGeom>
            <a:ln w="15875">
              <a:solidFill>
                <a:srgbClr val="E2A7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E88126-4781-4FD1-9871-1E6BA008D0AF}"/>
                </a:ext>
              </a:extLst>
            </p:cNvPr>
            <p:cNvSpPr/>
            <p:nvPr/>
          </p:nvSpPr>
          <p:spPr>
            <a:xfrm>
              <a:off x="4551600" y="2958273"/>
              <a:ext cx="69762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b="1" dirty="0">
                  <a:solidFill>
                    <a:srgbClr val="E2A7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DAD38C-4353-478E-875F-115C583A870F}"/>
                </a:ext>
              </a:extLst>
            </p:cNvPr>
            <p:cNvSpPr/>
            <p:nvPr/>
          </p:nvSpPr>
          <p:spPr>
            <a:xfrm>
              <a:off x="4254218" y="4543330"/>
              <a:ext cx="1292389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 Farm Bill</a:t>
              </a:r>
            </a:p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Rural Energy for America Program  </a:t>
              </a:r>
            </a:p>
            <a:p>
              <a:pPr lvl="0" algn="ctr"/>
              <a:endPara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2E34D8-312E-4F2B-A26F-814917F8B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3107" y="3371850"/>
              <a:ext cx="0" cy="822960"/>
            </a:xfrm>
            <a:prstGeom prst="line">
              <a:avLst/>
            </a:prstGeom>
            <a:ln w="15875">
              <a:solidFill>
                <a:srgbClr val="F781BF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ED6C784-7B7A-4B4A-951B-36BF147C3E95}"/>
                </a:ext>
              </a:extLst>
            </p:cNvPr>
            <p:cNvSpPr/>
            <p:nvPr/>
          </p:nvSpPr>
          <p:spPr>
            <a:xfrm>
              <a:off x="5610263" y="294752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F781B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90AF34-D27C-43B9-9125-0FD51549A916}"/>
                </a:ext>
              </a:extLst>
            </p:cNvPr>
            <p:cNvSpPr/>
            <p:nvPr/>
          </p:nvSpPr>
          <p:spPr>
            <a:xfrm>
              <a:off x="5337510" y="4342207"/>
              <a:ext cx="12202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Policy Act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91EA0A4-36AA-4169-8AA6-A5E73A670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21770" y="3371850"/>
              <a:ext cx="0" cy="1097280"/>
            </a:xfrm>
            <a:prstGeom prst="line">
              <a:avLst/>
            </a:prstGeom>
            <a:ln w="15875">
              <a:solidFill>
                <a:srgbClr val="0033CC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00F9A9-24C6-4216-8535-9FE52D891AB3}"/>
                </a:ext>
              </a:extLst>
            </p:cNvPr>
            <p:cNvSpPr/>
            <p:nvPr/>
          </p:nvSpPr>
          <p:spPr>
            <a:xfrm>
              <a:off x="6672956" y="294752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0033C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2009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D0BCF4-24CE-42E0-A409-F1A3AC98ED3E}"/>
                </a:ext>
              </a:extLst>
            </p:cNvPr>
            <p:cNvSpPr/>
            <p:nvPr/>
          </p:nvSpPr>
          <p:spPr>
            <a:xfrm>
              <a:off x="6284253" y="4541615"/>
              <a:ext cx="147503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American Recovery and Reinvestment Act 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13DD987-9667-48D5-AEB5-F2B6AD13A9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3775" y="2555919"/>
              <a:ext cx="0" cy="822960"/>
            </a:xfrm>
            <a:prstGeom prst="line">
              <a:avLst/>
            </a:prstGeom>
            <a:ln w="15875">
              <a:solidFill>
                <a:srgbClr val="A6562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00AF024-5BF3-439C-B054-34F13603838E}"/>
                </a:ext>
              </a:extLst>
            </p:cNvPr>
            <p:cNvSpPr/>
            <p:nvPr/>
          </p:nvSpPr>
          <p:spPr>
            <a:xfrm>
              <a:off x="5083534" y="344666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A6562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BBB8740-2F97-4B4A-BD3D-9EFCDCC04946}"/>
                </a:ext>
              </a:extLst>
            </p:cNvPr>
            <p:cNvSpPr/>
            <p:nvPr/>
          </p:nvSpPr>
          <p:spPr>
            <a:xfrm>
              <a:off x="4916592" y="2080740"/>
              <a:ext cx="103102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American Jobs Creation Act 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26F03F-092C-4CD9-8B7D-99B430AA2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439" y="2256904"/>
              <a:ext cx="0" cy="1097280"/>
            </a:xfrm>
            <a:prstGeom prst="line">
              <a:avLst/>
            </a:prstGeom>
            <a:ln w="15875">
              <a:solidFill>
                <a:srgbClr val="999999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EF58664-EE41-4166-8E72-95843ACBAE5F}"/>
                </a:ext>
              </a:extLst>
            </p:cNvPr>
            <p:cNvSpPr/>
            <p:nvPr/>
          </p:nvSpPr>
          <p:spPr>
            <a:xfrm>
              <a:off x="6142196" y="3446667"/>
              <a:ext cx="6976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b="1" dirty="0">
                  <a:solidFill>
                    <a:srgbClr val="9999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2007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BC5EFE2-8731-4901-8052-D2FEA7D296CE}"/>
                </a:ext>
              </a:extLst>
            </p:cNvPr>
            <p:cNvSpPr/>
            <p:nvPr/>
          </p:nvSpPr>
          <p:spPr>
            <a:xfrm>
              <a:off x="5771567" y="1726774"/>
              <a:ext cx="143505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0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Independence and Security Act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820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92D7F1B-2BC4-43D4-A8FF-597D19E2EACC}"/>
              </a:ext>
            </a:extLst>
          </p:cNvPr>
          <p:cNvGrpSpPr/>
          <p:nvPr/>
        </p:nvGrpSpPr>
        <p:grpSpPr>
          <a:xfrm>
            <a:off x="3009130" y="1756321"/>
            <a:ext cx="6173740" cy="3345358"/>
            <a:chOff x="1589899" y="2463145"/>
            <a:chExt cx="6173740" cy="3345358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C0EDC30-06B7-4B61-8A3F-E960CDA620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7543" y="3918064"/>
              <a:ext cx="5775721" cy="17666"/>
            </a:xfrm>
            <a:prstGeom prst="line">
              <a:avLst/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31E736-4184-40C0-944F-A32302A78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3477" y="2832572"/>
              <a:ext cx="0" cy="1097280"/>
            </a:xfrm>
            <a:prstGeom prst="line">
              <a:avLst/>
            </a:prstGeom>
            <a:ln w="15875">
              <a:solidFill>
                <a:srgbClr val="E41A1C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FCF618-9F6A-4AC6-92B9-1674B7720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24800" y="3929852"/>
              <a:ext cx="0" cy="1097280"/>
            </a:xfrm>
            <a:prstGeom prst="line">
              <a:avLst/>
            </a:prstGeom>
            <a:ln w="15875">
              <a:solidFill>
                <a:srgbClr val="377EB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3549039-48DA-4E98-8B6A-57515A5C0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8769" y="2832572"/>
              <a:ext cx="0" cy="1097280"/>
            </a:xfrm>
            <a:prstGeom prst="line">
              <a:avLst/>
            </a:prstGeom>
            <a:ln w="15875">
              <a:solidFill>
                <a:srgbClr val="FF7F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1B16B52-E609-452B-84B2-BFE7892870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6123" y="3289772"/>
              <a:ext cx="0" cy="640080"/>
            </a:xfrm>
            <a:prstGeom prst="line">
              <a:avLst/>
            </a:prstGeom>
            <a:ln w="15875">
              <a:solidFill>
                <a:srgbClr val="4DAF4A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43829E-32AB-412E-8FE8-5772A75592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7446" y="3929852"/>
              <a:ext cx="0" cy="640080"/>
            </a:xfrm>
            <a:prstGeom prst="line">
              <a:avLst/>
            </a:prstGeom>
            <a:ln w="15875">
              <a:solidFill>
                <a:srgbClr val="984EA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32DFB5-2059-4F45-9AB9-371C6E5F0A7B}"/>
                </a:ext>
              </a:extLst>
            </p:cNvPr>
            <p:cNvSpPr/>
            <p:nvPr/>
          </p:nvSpPr>
          <p:spPr>
            <a:xfrm>
              <a:off x="1589899" y="2463145"/>
              <a:ext cx="101688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Policy and Conservation Act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8C0C2D-B5B1-422A-B80A-FEBA11EDC945}"/>
                </a:ext>
              </a:extLst>
            </p:cNvPr>
            <p:cNvSpPr/>
            <p:nvPr/>
          </p:nvSpPr>
          <p:spPr>
            <a:xfrm>
              <a:off x="1866397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E41A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1975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F77EDE6-6E9A-4B8E-AD04-9AA4B0C2822E}"/>
                </a:ext>
              </a:extLst>
            </p:cNvPr>
            <p:cNvSpPr/>
            <p:nvPr/>
          </p:nvSpPr>
          <p:spPr>
            <a:xfrm>
              <a:off x="2194456" y="3671843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377E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1978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2C0695-2340-4A5E-9C2B-359DF88CF453}"/>
                </a:ext>
              </a:extLst>
            </p:cNvPr>
            <p:cNvSpPr/>
            <p:nvPr/>
          </p:nvSpPr>
          <p:spPr>
            <a:xfrm>
              <a:off x="2512084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4DAF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1988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71AFDA-6AB4-4170-A1EA-C026BC9FB311}"/>
                </a:ext>
              </a:extLst>
            </p:cNvPr>
            <p:cNvSpPr/>
            <p:nvPr/>
          </p:nvSpPr>
          <p:spPr>
            <a:xfrm>
              <a:off x="2840545" y="3671843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984E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1992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A992047-39DD-44FF-8404-BBF6CD62CFE2}"/>
                </a:ext>
              </a:extLst>
            </p:cNvPr>
            <p:cNvSpPr/>
            <p:nvPr/>
          </p:nvSpPr>
          <p:spPr>
            <a:xfrm>
              <a:off x="3161554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FF7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E02B31-3D9F-4BE9-A3A2-97547D0B50FE}"/>
                </a:ext>
              </a:extLst>
            </p:cNvPr>
            <p:cNvSpPr/>
            <p:nvPr/>
          </p:nvSpPr>
          <p:spPr>
            <a:xfrm>
              <a:off x="1965379" y="5100617"/>
              <a:ext cx="918841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Tax Act 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AF2B7E-D2A2-4429-B400-9F6FDC2BFD43}"/>
                </a:ext>
              </a:extLst>
            </p:cNvPr>
            <p:cNvSpPr/>
            <p:nvPr/>
          </p:nvSpPr>
          <p:spPr>
            <a:xfrm>
              <a:off x="2310095" y="2933552"/>
              <a:ext cx="86162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Alternative Motor Fuel Act 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3056D49-78C3-412A-906F-CFD0D1125448}"/>
                </a:ext>
              </a:extLst>
            </p:cNvPr>
            <p:cNvSpPr/>
            <p:nvPr/>
          </p:nvSpPr>
          <p:spPr>
            <a:xfrm>
              <a:off x="2728210" y="4617187"/>
              <a:ext cx="69146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Policy Act 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A9AFAC2-9B98-402C-9D67-BA715A934FFB}"/>
                </a:ext>
              </a:extLst>
            </p:cNvPr>
            <p:cNvSpPr/>
            <p:nvPr/>
          </p:nvSpPr>
          <p:spPr>
            <a:xfrm>
              <a:off x="2804776" y="2463145"/>
              <a:ext cx="118150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Biomass Research and Development Act 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A23C275-6C41-4C9F-A80C-92F51A509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0092" y="3929852"/>
              <a:ext cx="0" cy="1097280"/>
            </a:xfrm>
            <a:prstGeom prst="line">
              <a:avLst/>
            </a:prstGeom>
            <a:ln w="15875">
              <a:solidFill>
                <a:srgbClr val="E2A7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E88126-4781-4FD1-9871-1E6BA008D0AF}"/>
                </a:ext>
              </a:extLst>
            </p:cNvPr>
            <p:cNvSpPr/>
            <p:nvPr/>
          </p:nvSpPr>
          <p:spPr>
            <a:xfrm>
              <a:off x="3468000" y="3671843"/>
              <a:ext cx="48417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E2A7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0DAD38C-4353-478E-875F-115C583A870F}"/>
                </a:ext>
              </a:extLst>
            </p:cNvPr>
            <p:cNvSpPr/>
            <p:nvPr/>
          </p:nvSpPr>
          <p:spPr>
            <a:xfrm>
              <a:off x="3212585" y="5100617"/>
              <a:ext cx="99500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2002 Farm Bill</a:t>
              </a:r>
            </a:p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Rural Energy for America Program 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2E34D8-312E-4F2B-A26F-814917F8B7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2738" y="3929852"/>
              <a:ext cx="0" cy="640080"/>
            </a:xfrm>
            <a:prstGeom prst="line">
              <a:avLst/>
            </a:prstGeom>
            <a:ln w="15875">
              <a:solidFill>
                <a:srgbClr val="F781BF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ED6C784-7B7A-4B4A-951B-36BF147C3E95}"/>
                </a:ext>
              </a:extLst>
            </p:cNvPr>
            <p:cNvSpPr/>
            <p:nvPr/>
          </p:nvSpPr>
          <p:spPr>
            <a:xfrm>
              <a:off x="4122928" y="3671843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F781B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90AF34-D27C-43B9-9125-0FD51549A916}"/>
                </a:ext>
              </a:extLst>
            </p:cNvPr>
            <p:cNvSpPr/>
            <p:nvPr/>
          </p:nvSpPr>
          <p:spPr>
            <a:xfrm>
              <a:off x="3854717" y="4617187"/>
              <a:ext cx="99500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Policy Act</a:t>
              </a:r>
            </a:p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RFS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91EA0A4-36AA-4169-8AA6-A5E73A670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5384" y="3929852"/>
              <a:ext cx="0" cy="1097280"/>
            </a:xfrm>
            <a:prstGeom prst="line">
              <a:avLst/>
            </a:prstGeom>
            <a:ln w="15875">
              <a:solidFill>
                <a:srgbClr val="E41A1C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00F9A9-24C6-4216-8535-9FE52D891AB3}"/>
                </a:ext>
              </a:extLst>
            </p:cNvPr>
            <p:cNvSpPr/>
            <p:nvPr/>
          </p:nvSpPr>
          <p:spPr>
            <a:xfrm>
              <a:off x="4766852" y="3671843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E41A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2008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2D0BCF4-24CE-42E0-A409-F1A3AC98ED3E}"/>
                </a:ext>
              </a:extLst>
            </p:cNvPr>
            <p:cNvSpPr/>
            <p:nvPr/>
          </p:nvSpPr>
          <p:spPr>
            <a:xfrm>
              <a:off x="4368083" y="5100617"/>
              <a:ext cx="125645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Improvement and Extension Act</a:t>
              </a:r>
            </a:p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Bioenergy Program for Advanced Biofuels</a:t>
              </a:r>
            </a:p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Farm Bill 2008 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13DD987-9667-48D5-AEB5-F2B6AD13A9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1415" y="3289772"/>
              <a:ext cx="0" cy="640080"/>
            </a:xfrm>
            <a:prstGeom prst="line">
              <a:avLst/>
            </a:prstGeom>
            <a:ln w="15875">
              <a:solidFill>
                <a:srgbClr val="A6562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00AF024-5BF3-439C-B054-34F13603838E}"/>
                </a:ext>
              </a:extLst>
            </p:cNvPr>
            <p:cNvSpPr/>
            <p:nvPr/>
          </p:nvSpPr>
          <p:spPr>
            <a:xfrm>
              <a:off x="3793360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A6562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BBB8740-2F97-4B4A-BD3D-9EFCDCC04946}"/>
                </a:ext>
              </a:extLst>
            </p:cNvPr>
            <p:cNvSpPr/>
            <p:nvPr/>
          </p:nvSpPr>
          <p:spPr>
            <a:xfrm>
              <a:off x="3586872" y="2933552"/>
              <a:ext cx="88908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American Jobs Creation Act 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26F03F-092C-4CD9-8B7D-99B430AA2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4061" y="2832572"/>
              <a:ext cx="0" cy="1097280"/>
            </a:xfrm>
            <a:prstGeom prst="line">
              <a:avLst/>
            </a:prstGeom>
            <a:ln w="15875">
              <a:solidFill>
                <a:srgbClr val="999999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EF58664-EE41-4166-8E72-95843ACBAE5F}"/>
                </a:ext>
              </a:extLst>
            </p:cNvPr>
            <p:cNvSpPr/>
            <p:nvPr/>
          </p:nvSpPr>
          <p:spPr>
            <a:xfrm>
              <a:off x="4434312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99999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2007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BC5EFE2-8731-4901-8052-D2FEA7D296CE}"/>
                </a:ext>
              </a:extLst>
            </p:cNvPr>
            <p:cNvSpPr/>
            <p:nvPr/>
          </p:nvSpPr>
          <p:spPr>
            <a:xfrm>
              <a:off x="4078866" y="2463145"/>
              <a:ext cx="119039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Energy Independence and Security Act 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B66C00-2D01-45C6-B447-038CC821A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8030" y="3929852"/>
              <a:ext cx="0" cy="640080"/>
            </a:xfrm>
            <a:prstGeom prst="line">
              <a:avLst/>
            </a:prstGeom>
            <a:ln w="15875">
              <a:solidFill>
                <a:srgbClr val="4DAF4A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05EEDC3-0EFF-4F80-808E-3E1AB0519E49}"/>
                </a:ext>
              </a:extLst>
            </p:cNvPr>
            <p:cNvSpPr/>
            <p:nvPr/>
          </p:nvSpPr>
          <p:spPr>
            <a:xfrm>
              <a:off x="5401047" y="3671843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4DAF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6797AEA-365C-4F3F-879D-257587EE2578}"/>
                </a:ext>
              </a:extLst>
            </p:cNvPr>
            <p:cNvSpPr/>
            <p:nvPr/>
          </p:nvSpPr>
          <p:spPr>
            <a:xfrm>
              <a:off x="5061067" y="4617187"/>
              <a:ext cx="11637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Renewable Fuels for America's Future Act</a:t>
              </a:r>
            </a:p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Dual Fuel Vehicle Act 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D5E8EA5-C5C7-4658-B6DB-5D15BBC21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0676" y="3929852"/>
              <a:ext cx="0" cy="1097280"/>
            </a:xfrm>
            <a:prstGeom prst="line">
              <a:avLst/>
            </a:prstGeom>
            <a:ln w="15875">
              <a:solidFill>
                <a:srgbClr val="FF7F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0A88D71-76BD-4096-A9E7-BDEA7D4CE50D}"/>
                </a:ext>
              </a:extLst>
            </p:cNvPr>
            <p:cNvSpPr/>
            <p:nvPr/>
          </p:nvSpPr>
          <p:spPr>
            <a:xfrm>
              <a:off x="6043693" y="3671843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FF7F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2013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86D181E-2061-471D-B626-D54CC7001AF1}"/>
                </a:ext>
              </a:extLst>
            </p:cNvPr>
            <p:cNvSpPr/>
            <p:nvPr/>
          </p:nvSpPr>
          <p:spPr>
            <a:xfrm>
              <a:off x="5811640" y="5100617"/>
              <a:ext cx="91883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Biofuels Market Expansion Act 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C4A70C9-4E75-49A5-B9E5-B570398CE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6707" y="3289772"/>
              <a:ext cx="0" cy="640080"/>
            </a:xfrm>
            <a:prstGeom prst="line">
              <a:avLst/>
            </a:prstGeom>
            <a:ln w="15875">
              <a:solidFill>
                <a:srgbClr val="377EB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8CEF777-B308-4E10-8EED-537C742B95A2}"/>
                </a:ext>
              </a:extLst>
            </p:cNvPr>
            <p:cNvSpPr/>
            <p:nvPr/>
          </p:nvSpPr>
          <p:spPr>
            <a:xfrm>
              <a:off x="5089663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377EB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2009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135DB92-06EC-4957-AF6F-CFE68E243181}"/>
                </a:ext>
              </a:extLst>
            </p:cNvPr>
            <p:cNvSpPr/>
            <p:nvPr/>
          </p:nvSpPr>
          <p:spPr>
            <a:xfrm>
              <a:off x="4727866" y="2933552"/>
              <a:ext cx="1190388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American Recovery and Reinvestment Act 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A4869BC-4AA7-428A-B8BF-558A0CECED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9353" y="2832572"/>
              <a:ext cx="0" cy="1097280"/>
            </a:xfrm>
            <a:prstGeom prst="line">
              <a:avLst/>
            </a:prstGeom>
            <a:ln w="15875">
              <a:solidFill>
                <a:srgbClr val="984EA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FD29B5-B990-43EB-BC9E-250981A39CE2}"/>
                </a:ext>
              </a:extLst>
            </p:cNvPr>
            <p:cNvSpPr/>
            <p:nvPr/>
          </p:nvSpPr>
          <p:spPr>
            <a:xfrm>
              <a:off x="5725984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984EA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2012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C372555-736C-4B30-B758-53D1DFB3043D}"/>
                </a:ext>
              </a:extLst>
            </p:cNvPr>
            <p:cNvSpPr/>
            <p:nvPr/>
          </p:nvSpPr>
          <p:spPr>
            <a:xfrm>
              <a:off x="5545052" y="2463145"/>
              <a:ext cx="84113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American Tax Payer Relief 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21AC0CF-E08C-4D37-94D3-54F172FBD9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3322" y="3929852"/>
              <a:ext cx="0" cy="640080"/>
            </a:xfrm>
            <a:prstGeom prst="line">
              <a:avLst/>
            </a:prstGeom>
            <a:ln w="15875">
              <a:solidFill>
                <a:srgbClr val="A65628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FD60553-0075-4D09-836C-5C1259116ED8}"/>
                </a:ext>
              </a:extLst>
            </p:cNvPr>
            <p:cNvSpPr/>
            <p:nvPr/>
          </p:nvSpPr>
          <p:spPr>
            <a:xfrm>
              <a:off x="6689919" y="3671843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A6562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2015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7E2BD4D-3B1E-4D66-BA7E-40EEE90E025F}"/>
                </a:ext>
              </a:extLst>
            </p:cNvPr>
            <p:cNvSpPr/>
            <p:nvPr/>
          </p:nvSpPr>
          <p:spPr>
            <a:xfrm>
              <a:off x="6524229" y="4617187"/>
              <a:ext cx="79817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Executive Order 13693 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ECC7E97-63CC-474A-B8C1-C052651E0C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999" y="3289772"/>
              <a:ext cx="0" cy="640080"/>
            </a:xfrm>
            <a:prstGeom prst="line">
              <a:avLst/>
            </a:prstGeom>
            <a:ln w="15875">
              <a:solidFill>
                <a:srgbClr val="E2A700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49FA24B-887E-4E67-B717-D28F9622A823}"/>
                </a:ext>
              </a:extLst>
            </p:cNvPr>
            <p:cNvSpPr/>
            <p:nvPr/>
          </p:nvSpPr>
          <p:spPr>
            <a:xfrm>
              <a:off x="6376787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E2A7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2014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A25B627-F19E-48B7-8A42-37C827C79509}"/>
                </a:ext>
              </a:extLst>
            </p:cNvPr>
            <p:cNvSpPr/>
            <p:nvPr/>
          </p:nvSpPr>
          <p:spPr>
            <a:xfrm>
              <a:off x="6012674" y="2933552"/>
              <a:ext cx="119501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2014 Farm Bill</a:t>
              </a:r>
            </a:p>
            <a:p>
              <a:pPr lvl="0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 increase Program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E8A0CC7-CD35-4F79-A8C6-A830CA0F9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4639" y="2832572"/>
              <a:ext cx="0" cy="1097280"/>
            </a:xfrm>
            <a:prstGeom prst="line">
              <a:avLst/>
            </a:prstGeom>
            <a:ln w="15875">
              <a:solidFill>
                <a:srgbClr val="F781BF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95BAF7-E171-4209-ACA0-0E0448A40217}"/>
                </a:ext>
              </a:extLst>
            </p:cNvPr>
            <p:cNvSpPr/>
            <p:nvPr/>
          </p:nvSpPr>
          <p:spPr>
            <a:xfrm>
              <a:off x="7011456" y="3984252"/>
              <a:ext cx="466794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1000" b="1" dirty="0">
                  <a:solidFill>
                    <a:srgbClr val="F781B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2016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37E6FBA-5AC4-4644-9B1C-4AA9428F4AB7}"/>
                </a:ext>
              </a:extLst>
            </p:cNvPr>
            <p:cNvSpPr/>
            <p:nvPr/>
          </p:nvSpPr>
          <p:spPr>
            <a:xfrm>
              <a:off x="6728637" y="2463145"/>
              <a:ext cx="1035002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8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Consolidated Appropriations Act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024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6CCBE6-ACFA-44D6-B1CE-400CA4BE08AF}"/>
              </a:ext>
            </a:extLst>
          </p:cNvPr>
          <p:cNvCxnSpPr>
            <a:cxnSpLocks/>
          </p:cNvCxnSpPr>
          <p:nvPr/>
        </p:nvCxnSpPr>
        <p:spPr>
          <a:xfrm>
            <a:off x="1298766" y="3024170"/>
            <a:ext cx="9777252" cy="0"/>
          </a:xfrm>
          <a:prstGeom prst="line">
            <a:avLst/>
          </a:prstGeom>
          <a:ln w="28575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31E736-4184-40C0-944F-A32302A789F6}"/>
              </a:ext>
            </a:extLst>
          </p:cNvPr>
          <p:cNvCxnSpPr>
            <a:cxnSpLocks/>
          </p:cNvCxnSpPr>
          <p:nvPr/>
        </p:nvCxnSpPr>
        <p:spPr>
          <a:xfrm flipV="1">
            <a:off x="1748526" y="1919862"/>
            <a:ext cx="0" cy="1097280"/>
          </a:xfrm>
          <a:prstGeom prst="line">
            <a:avLst/>
          </a:prstGeom>
          <a:ln w="15875">
            <a:solidFill>
              <a:srgbClr val="E41A1C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FCF618-9F6A-4AC6-92B9-1674B7720EC8}"/>
              </a:ext>
            </a:extLst>
          </p:cNvPr>
          <p:cNvCxnSpPr>
            <a:cxnSpLocks/>
          </p:cNvCxnSpPr>
          <p:nvPr/>
        </p:nvCxnSpPr>
        <p:spPr>
          <a:xfrm flipV="1">
            <a:off x="2277858" y="3024170"/>
            <a:ext cx="0" cy="1371600"/>
          </a:xfrm>
          <a:prstGeom prst="line">
            <a:avLst/>
          </a:prstGeom>
          <a:ln w="15875">
            <a:solidFill>
              <a:srgbClr val="377EB8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549039-48DA-4E98-8B6A-57515A5C0509}"/>
              </a:ext>
            </a:extLst>
          </p:cNvPr>
          <p:cNvCxnSpPr>
            <a:cxnSpLocks/>
          </p:cNvCxnSpPr>
          <p:nvPr/>
        </p:nvCxnSpPr>
        <p:spPr>
          <a:xfrm flipV="1">
            <a:off x="3865854" y="1913036"/>
            <a:ext cx="0" cy="1097280"/>
          </a:xfrm>
          <a:prstGeom prst="line">
            <a:avLst/>
          </a:prstGeom>
          <a:ln w="15875">
            <a:solidFill>
              <a:srgbClr val="FF7F0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B16B52-E609-452B-84B2-BFE78928706B}"/>
              </a:ext>
            </a:extLst>
          </p:cNvPr>
          <p:cNvCxnSpPr>
            <a:cxnSpLocks/>
          </p:cNvCxnSpPr>
          <p:nvPr/>
        </p:nvCxnSpPr>
        <p:spPr>
          <a:xfrm flipV="1">
            <a:off x="2807190" y="2201211"/>
            <a:ext cx="0" cy="822960"/>
          </a:xfrm>
          <a:prstGeom prst="line">
            <a:avLst/>
          </a:prstGeom>
          <a:ln w="15875">
            <a:solidFill>
              <a:srgbClr val="4DAF4A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43829E-32AB-412E-8FE8-5772A7559261}"/>
              </a:ext>
            </a:extLst>
          </p:cNvPr>
          <p:cNvCxnSpPr>
            <a:cxnSpLocks/>
          </p:cNvCxnSpPr>
          <p:nvPr/>
        </p:nvCxnSpPr>
        <p:spPr>
          <a:xfrm flipV="1">
            <a:off x="3336522" y="3024170"/>
            <a:ext cx="0" cy="731520"/>
          </a:xfrm>
          <a:prstGeom prst="line">
            <a:avLst/>
          </a:prstGeom>
          <a:ln w="15875">
            <a:solidFill>
              <a:srgbClr val="984EA3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2DFB5-2059-4F45-9AB9-371C6E5F0A7B}"/>
              </a:ext>
            </a:extLst>
          </p:cNvPr>
          <p:cNvSpPr/>
          <p:nvPr/>
        </p:nvSpPr>
        <p:spPr>
          <a:xfrm>
            <a:off x="1115982" y="1379094"/>
            <a:ext cx="126855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Policy and Conservation Act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8C0C2D-B5B1-422A-B80A-FEBA11EDC945}"/>
              </a:ext>
            </a:extLst>
          </p:cNvPr>
          <p:cNvSpPr/>
          <p:nvPr/>
        </p:nvSpPr>
        <p:spPr>
          <a:xfrm>
            <a:off x="1399712" y="309898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E41A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1975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77EDE6-6E9A-4B8E-AD04-9AA4B0C2822E}"/>
              </a:ext>
            </a:extLst>
          </p:cNvPr>
          <p:cNvSpPr/>
          <p:nvPr/>
        </p:nvSpPr>
        <p:spPr>
          <a:xfrm>
            <a:off x="1933074" y="2612691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377E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1978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2C0695-2340-4A5E-9C2B-359DF88CF453}"/>
              </a:ext>
            </a:extLst>
          </p:cNvPr>
          <p:cNvSpPr/>
          <p:nvPr/>
        </p:nvSpPr>
        <p:spPr>
          <a:xfrm>
            <a:off x="2458376" y="309898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4DAF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1988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71AFDA-6AB4-4170-A1EA-C026BC9FB311}"/>
              </a:ext>
            </a:extLst>
          </p:cNvPr>
          <p:cNvSpPr/>
          <p:nvPr/>
        </p:nvSpPr>
        <p:spPr>
          <a:xfrm>
            <a:off x="2983680" y="259984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984E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1992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92047-39DD-44FF-8404-BBF6CD62CFE2}"/>
              </a:ext>
            </a:extLst>
          </p:cNvPr>
          <p:cNvSpPr/>
          <p:nvPr/>
        </p:nvSpPr>
        <p:spPr>
          <a:xfrm>
            <a:off x="3517040" y="309898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FF7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E02B31-3D9F-4BE9-A3A2-97547D0B50FE}"/>
              </a:ext>
            </a:extLst>
          </p:cNvPr>
          <p:cNvSpPr/>
          <p:nvPr/>
        </p:nvSpPr>
        <p:spPr>
          <a:xfrm>
            <a:off x="1731875" y="4452716"/>
            <a:ext cx="109196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Tax Act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AF2B7E-D2A2-4429-B400-9F6FDC2BFD43}"/>
              </a:ext>
            </a:extLst>
          </p:cNvPr>
          <p:cNvSpPr/>
          <p:nvPr/>
        </p:nvSpPr>
        <p:spPr>
          <a:xfrm>
            <a:off x="2232170" y="1736712"/>
            <a:ext cx="11833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Motor Fuel Act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056D49-78C3-412A-906F-CFD0D1125448}"/>
              </a:ext>
            </a:extLst>
          </p:cNvPr>
          <p:cNvSpPr/>
          <p:nvPr/>
        </p:nvSpPr>
        <p:spPr>
          <a:xfrm>
            <a:off x="2727426" y="3799938"/>
            <a:ext cx="122020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Policy Act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9AFAC2-9B98-402C-9D67-BA715A934FFB}"/>
              </a:ext>
            </a:extLst>
          </p:cNvPr>
          <p:cNvSpPr/>
          <p:nvPr/>
        </p:nvSpPr>
        <p:spPr>
          <a:xfrm>
            <a:off x="3156003" y="1394482"/>
            <a:ext cx="14350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Biomass Research and Development Act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23C275-6C41-4C9F-A80C-92F51A5097CE}"/>
              </a:ext>
            </a:extLst>
          </p:cNvPr>
          <p:cNvCxnSpPr>
            <a:cxnSpLocks/>
          </p:cNvCxnSpPr>
          <p:nvPr/>
        </p:nvCxnSpPr>
        <p:spPr>
          <a:xfrm flipV="1">
            <a:off x="4395186" y="3024170"/>
            <a:ext cx="0" cy="1371600"/>
          </a:xfrm>
          <a:prstGeom prst="line">
            <a:avLst/>
          </a:prstGeom>
          <a:ln w="15875">
            <a:solidFill>
              <a:srgbClr val="E2A70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AE88126-4781-4FD1-9871-1E6BA008D0AF}"/>
              </a:ext>
            </a:extLst>
          </p:cNvPr>
          <p:cNvSpPr/>
          <p:nvPr/>
        </p:nvSpPr>
        <p:spPr>
          <a:xfrm>
            <a:off x="4042343" y="2610593"/>
            <a:ext cx="697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>
                <a:solidFill>
                  <a:srgbClr val="E2A7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DAD38C-4353-478E-875F-115C583A870F}"/>
              </a:ext>
            </a:extLst>
          </p:cNvPr>
          <p:cNvSpPr/>
          <p:nvPr/>
        </p:nvSpPr>
        <p:spPr>
          <a:xfrm>
            <a:off x="3744961" y="4419934"/>
            <a:ext cx="12923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2002 Farm Bill</a:t>
            </a:r>
          </a:p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Rural Energy for America Program  </a:t>
            </a:r>
          </a:p>
          <a:p>
            <a:pPr lvl="0" algn="ctr"/>
            <a:endParaRPr lang="en-US" sz="1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2E34D8-312E-4F2B-A26F-814917F8B78F}"/>
              </a:ext>
            </a:extLst>
          </p:cNvPr>
          <p:cNvCxnSpPr>
            <a:cxnSpLocks/>
          </p:cNvCxnSpPr>
          <p:nvPr/>
        </p:nvCxnSpPr>
        <p:spPr>
          <a:xfrm flipV="1">
            <a:off x="5453850" y="3024170"/>
            <a:ext cx="0" cy="731520"/>
          </a:xfrm>
          <a:prstGeom prst="line">
            <a:avLst/>
          </a:prstGeom>
          <a:ln w="15875">
            <a:solidFill>
              <a:srgbClr val="F781BF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4ED6C784-7B7A-4B4A-951B-36BF147C3E95}"/>
              </a:ext>
            </a:extLst>
          </p:cNvPr>
          <p:cNvSpPr/>
          <p:nvPr/>
        </p:nvSpPr>
        <p:spPr>
          <a:xfrm>
            <a:off x="5101006" y="259984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F781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90AF34-D27C-43B9-9125-0FD51549A916}"/>
              </a:ext>
            </a:extLst>
          </p:cNvPr>
          <p:cNvSpPr/>
          <p:nvPr/>
        </p:nvSpPr>
        <p:spPr>
          <a:xfrm>
            <a:off x="4856778" y="3794490"/>
            <a:ext cx="11849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Policy Act</a:t>
            </a:r>
          </a:p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RFS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1EA0A4-36AA-4169-8AA6-A5E73A6703B6}"/>
              </a:ext>
            </a:extLst>
          </p:cNvPr>
          <p:cNvCxnSpPr>
            <a:cxnSpLocks/>
          </p:cNvCxnSpPr>
          <p:nvPr/>
        </p:nvCxnSpPr>
        <p:spPr>
          <a:xfrm flipV="1">
            <a:off x="6512513" y="3024170"/>
            <a:ext cx="0" cy="1371600"/>
          </a:xfrm>
          <a:prstGeom prst="line">
            <a:avLst/>
          </a:prstGeom>
          <a:ln w="15875">
            <a:solidFill>
              <a:srgbClr val="E41A1C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0F9A9-24C6-4216-8535-9FE52D891AB3}"/>
              </a:ext>
            </a:extLst>
          </p:cNvPr>
          <p:cNvSpPr/>
          <p:nvPr/>
        </p:nvSpPr>
        <p:spPr>
          <a:xfrm>
            <a:off x="6163699" y="259984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E41A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D0BCF4-24CE-42E0-A409-F1A3AC98ED3E}"/>
              </a:ext>
            </a:extLst>
          </p:cNvPr>
          <p:cNvSpPr/>
          <p:nvPr/>
        </p:nvSpPr>
        <p:spPr>
          <a:xfrm>
            <a:off x="5696167" y="4410099"/>
            <a:ext cx="163268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Improvement and Extension Act</a:t>
            </a:r>
          </a:p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Bioenergy Program for Advanced Biofuels</a:t>
            </a:r>
          </a:p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Farm Bill 2008 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13DD987-9667-48D5-AEB5-F2B6AD13A9C4}"/>
              </a:ext>
            </a:extLst>
          </p:cNvPr>
          <p:cNvCxnSpPr>
            <a:cxnSpLocks/>
          </p:cNvCxnSpPr>
          <p:nvPr/>
        </p:nvCxnSpPr>
        <p:spPr>
          <a:xfrm flipV="1">
            <a:off x="4924518" y="2208239"/>
            <a:ext cx="0" cy="822960"/>
          </a:xfrm>
          <a:prstGeom prst="line">
            <a:avLst/>
          </a:prstGeom>
          <a:ln w="15875">
            <a:solidFill>
              <a:srgbClr val="A65628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00AF024-5BF3-439C-B054-34F13603838E}"/>
              </a:ext>
            </a:extLst>
          </p:cNvPr>
          <p:cNvSpPr/>
          <p:nvPr/>
        </p:nvSpPr>
        <p:spPr>
          <a:xfrm>
            <a:off x="4574277" y="309898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A65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BB8740-2F97-4B4A-BD3D-9EFCDCC04946}"/>
              </a:ext>
            </a:extLst>
          </p:cNvPr>
          <p:cNvSpPr/>
          <p:nvPr/>
        </p:nvSpPr>
        <p:spPr>
          <a:xfrm>
            <a:off x="4407335" y="1733060"/>
            <a:ext cx="10310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American Jobs Creation Act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426F03F-092C-4CD9-8B7D-99B430AA2CC5}"/>
              </a:ext>
            </a:extLst>
          </p:cNvPr>
          <p:cNvCxnSpPr>
            <a:cxnSpLocks/>
          </p:cNvCxnSpPr>
          <p:nvPr/>
        </p:nvCxnSpPr>
        <p:spPr>
          <a:xfrm flipV="1">
            <a:off x="5983182" y="1909224"/>
            <a:ext cx="0" cy="1097280"/>
          </a:xfrm>
          <a:prstGeom prst="line">
            <a:avLst/>
          </a:prstGeom>
          <a:ln w="15875">
            <a:solidFill>
              <a:srgbClr val="999999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EF58664-EE41-4166-8E72-95843ACBAE5F}"/>
              </a:ext>
            </a:extLst>
          </p:cNvPr>
          <p:cNvSpPr/>
          <p:nvPr/>
        </p:nvSpPr>
        <p:spPr>
          <a:xfrm>
            <a:off x="5632939" y="309898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9999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C5EFE2-8731-4901-8052-D2FEA7D296CE}"/>
              </a:ext>
            </a:extLst>
          </p:cNvPr>
          <p:cNvSpPr/>
          <p:nvPr/>
        </p:nvSpPr>
        <p:spPr>
          <a:xfrm>
            <a:off x="5262310" y="1379094"/>
            <a:ext cx="14350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Independence and Security Act 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EB66C00-2D01-45C6-B447-038CC821A9AB}"/>
              </a:ext>
            </a:extLst>
          </p:cNvPr>
          <p:cNvCxnSpPr>
            <a:cxnSpLocks/>
          </p:cNvCxnSpPr>
          <p:nvPr/>
        </p:nvCxnSpPr>
        <p:spPr>
          <a:xfrm flipV="1">
            <a:off x="7573243" y="3024170"/>
            <a:ext cx="0" cy="731520"/>
          </a:xfrm>
          <a:prstGeom prst="line">
            <a:avLst/>
          </a:prstGeom>
          <a:ln w="15875">
            <a:solidFill>
              <a:srgbClr val="4DAF4A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305EEDC3-0EFF-4F80-808E-3E1AB0519E49}"/>
              </a:ext>
            </a:extLst>
          </p:cNvPr>
          <p:cNvSpPr/>
          <p:nvPr/>
        </p:nvSpPr>
        <p:spPr>
          <a:xfrm>
            <a:off x="7220399" y="2599847"/>
            <a:ext cx="68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4DAF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797AEA-365C-4F3F-879D-257587EE2578}"/>
              </a:ext>
            </a:extLst>
          </p:cNvPr>
          <p:cNvSpPr/>
          <p:nvPr/>
        </p:nvSpPr>
        <p:spPr>
          <a:xfrm>
            <a:off x="6853539" y="3788140"/>
            <a:ext cx="144090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Fuels for America's Future Act</a:t>
            </a:r>
          </a:p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Dual Fuel Vehicle Act 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D5E8EA5-C5C7-4658-B6DB-5D15BBC213B3}"/>
              </a:ext>
            </a:extLst>
          </p:cNvPr>
          <p:cNvCxnSpPr>
            <a:cxnSpLocks/>
          </p:cNvCxnSpPr>
          <p:nvPr/>
        </p:nvCxnSpPr>
        <p:spPr>
          <a:xfrm flipV="1">
            <a:off x="8631906" y="3024170"/>
            <a:ext cx="0" cy="1371600"/>
          </a:xfrm>
          <a:prstGeom prst="line">
            <a:avLst/>
          </a:prstGeom>
          <a:ln w="15875">
            <a:solidFill>
              <a:srgbClr val="FF7F0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0A88D71-76BD-4096-A9E7-BDEA7D4CE50D}"/>
              </a:ext>
            </a:extLst>
          </p:cNvPr>
          <p:cNvSpPr/>
          <p:nvPr/>
        </p:nvSpPr>
        <p:spPr>
          <a:xfrm>
            <a:off x="8283092" y="259984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FF7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6D181E-2061-471D-B626-D54CC7001AF1}"/>
              </a:ext>
            </a:extLst>
          </p:cNvPr>
          <p:cNvSpPr/>
          <p:nvPr/>
        </p:nvSpPr>
        <p:spPr>
          <a:xfrm>
            <a:off x="8088741" y="4428287"/>
            <a:ext cx="10863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Biofuels Market Expansion Act 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C4A70C9-4E75-49A5-B9E5-B570398CE604}"/>
              </a:ext>
            </a:extLst>
          </p:cNvPr>
          <p:cNvCxnSpPr>
            <a:cxnSpLocks/>
          </p:cNvCxnSpPr>
          <p:nvPr/>
        </p:nvCxnSpPr>
        <p:spPr>
          <a:xfrm flipV="1">
            <a:off x="7043911" y="2208239"/>
            <a:ext cx="0" cy="822960"/>
          </a:xfrm>
          <a:prstGeom prst="line">
            <a:avLst/>
          </a:prstGeom>
          <a:ln w="15875">
            <a:solidFill>
              <a:srgbClr val="377EB8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A8CEF777-B308-4E10-8EED-537C742B95A2}"/>
              </a:ext>
            </a:extLst>
          </p:cNvPr>
          <p:cNvSpPr/>
          <p:nvPr/>
        </p:nvSpPr>
        <p:spPr>
          <a:xfrm>
            <a:off x="6693670" y="309898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377E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2009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35DB92-06EC-4957-AF6F-CFE68E243181}"/>
              </a:ext>
            </a:extLst>
          </p:cNvPr>
          <p:cNvSpPr/>
          <p:nvPr/>
        </p:nvSpPr>
        <p:spPr>
          <a:xfrm>
            <a:off x="6290768" y="1733060"/>
            <a:ext cx="14955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American Recovery and Reinvestment Act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A4869BC-4AA7-428A-B8BF-558A0CECED12}"/>
              </a:ext>
            </a:extLst>
          </p:cNvPr>
          <p:cNvCxnSpPr>
            <a:cxnSpLocks/>
          </p:cNvCxnSpPr>
          <p:nvPr/>
        </p:nvCxnSpPr>
        <p:spPr>
          <a:xfrm flipV="1">
            <a:off x="8102575" y="1909224"/>
            <a:ext cx="0" cy="1097280"/>
          </a:xfrm>
          <a:prstGeom prst="line">
            <a:avLst/>
          </a:prstGeom>
          <a:ln w="15875">
            <a:solidFill>
              <a:srgbClr val="984EA3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98FD29B5-B990-43EB-BC9E-250981A39CE2}"/>
              </a:ext>
            </a:extLst>
          </p:cNvPr>
          <p:cNvSpPr/>
          <p:nvPr/>
        </p:nvSpPr>
        <p:spPr>
          <a:xfrm>
            <a:off x="7752332" y="3098987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984E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372555-736C-4B30-B758-53D1DFB3043D}"/>
              </a:ext>
            </a:extLst>
          </p:cNvPr>
          <p:cNvSpPr/>
          <p:nvPr/>
        </p:nvSpPr>
        <p:spPr>
          <a:xfrm>
            <a:off x="7381703" y="1379094"/>
            <a:ext cx="14350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American Tax Payer Relief 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21AC0CF-E08C-4D37-94D3-54F172FBD926}"/>
              </a:ext>
            </a:extLst>
          </p:cNvPr>
          <p:cNvCxnSpPr>
            <a:cxnSpLocks/>
          </p:cNvCxnSpPr>
          <p:nvPr/>
        </p:nvCxnSpPr>
        <p:spPr>
          <a:xfrm flipV="1">
            <a:off x="9754828" y="3031199"/>
            <a:ext cx="0" cy="731520"/>
          </a:xfrm>
          <a:prstGeom prst="line">
            <a:avLst/>
          </a:prstGeom>
          <a:ln w="15875">
            <a:solidFill>
              <a:srgbClr val="A65628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FD60553-0075-4D09-836C-5C1259116ED8}"/>
              </a:ext>
            </a:extLst>
          </p:cNvPr>
          <p:cNvSpPr/>
          <p:nvPr/>
        </p:nvSpPr>
        <p:spPr>
          <a:xfrm>
            <a:off x="9401984" y="2606876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A656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E2BD4D-3B1E-4D66-BA7E-40EEE90E025F}"/>
              </a:ext>
            </a:extLst>
          </p:cNvPr>
          <p:cNvSpPr/>
          <p:nvPr/>
        </p:nvSpPr>
        <p:spPr>
          <a:xfrm>
            <a:off x="9265871" y="3795478"/>
            <a:ext cx="9698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Order 13693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ECC7E97-63CC-474A-B8C1-C052651E0CCF}"/>
              </a:ext>
            </a:extLst>
          </p:cNvPr>
          <p:cNvCxnSpPr>
            <a:cxnSpLocks/>
          </p:cNvCxnSpPr>
          <p:nvPr/>
        </p:nvCxnSpPr>
        <p:spPr>
          <a:xfrm flipV="1">
            <a:off x="9225496" y="2215268"/>
            <a:ext cx="0" cy="822960"/>
          </a:xfrm>
          <a:prstGeom prst="line">
            <a:avLst/>
          </a:prstGeom>
          <a:ln w="15875">
            <a:solidFill>
              <a:srgbClr val="E2A700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249FA24B-887E-4E67-B717-D28F9622A823}"/>
              </a:ext>
            </a:extLst>
          </p:cNvPr>
          <p:cNvSpPr/>
          <p:nvPr/>
        </p:nvSpPr>
        <p:spPr>
          <a:xfrm>
            <a:off x="8875255" y="3106016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E2A7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A25B627-F19E-48B7-8A42-37C827C79509}"/>
              </a:ext>
            </a:extLst>
          </p:cNvPr>
          <p:cNvSpPr/>
          <p:nvPr/>
        </p:nvSpPr>
        <p:spPr>
          <a:xfrm>
            <a:off x="8476299" y="1740657"/>
            <a:ext cx="14955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2014 Farm Bill</a:t>
            </a:r>
          </a:p>
          <a:p>
            <a:pPr lvl="0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 increase Program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E8A0CC7-CD35-4F79-A8C6-A830CA0F92DE}"/>
              </a:ext>
            </a:extLst>
          </p:cNvPr>
          <p:cNvCxnSpPr>
            <a:cxnSpLocks/>
          </p:cNvCxnSpPr>
          <p:nvPr/>
        </p:nvCxnSpPr>
        <p:spPr>
          <a:xfrm flipV="1">
            <a:off x="10284160" y="1916253"/>
            <a:ext cx="0" cy="1097280"/>
          </a:xfrm>
          <a:prstGeom prst="line">
            <a:avLst/>
          </a:prstGeom>
          <a:ln w="15875">
            <a:solidFill>
              <a:srgbClr val="F781BF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D295BAF7-E171-4209-ACA0-0E0448A40217}"/>
              </a:ext>
            </a:extLst>
          </p:cNvPr>
          <p:cNvSpPr/>
          <p:nvPr/>
        </p:nvSpPr>
        <p:spPr>
          <a:xfrm>
            <a:off x="9933917" y="3106016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srgbClr val="F781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2016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7E6FBA-5AC4-4644-9B1C-4AA9428F4AB7}"/>
              </a:ext>
            </a:extLst>
          </p:cNvPr>
          <p:cNvSpPr/>
          <p:nvPr/>
        </p:nvSpPr>
        <p:spPr>
          <a:xfrm>
            <a:off x="9563288" y="1386123"/>
            <a:ext cx="143505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Consolidated Appropriations Act </a:t>
            </a:r>
          </a:p>
        </p:txBody>
      </p:sp>
    </p:spTree>
    <p:extLst>
      <p:ext uri="{BB962C8B-B14F-4D97-AF65-F5344CB8AC3E}">
        <p14:creationId xmlns:p14="http://schemas.microsoft.com/office/powerpoint/2010/main" val="20815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335</Words>
  <Application>Microsoft Office PowerPoint</Application>
  <PresentationFormat>Widescreen</PresentationFormat>
  <Paragraphs>125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Pascual, Janire</dc:creator>
  <cp:lastModifiedBy>Pascual, Janire</cp:lastModifiedBy>
  <cp:revision>18</cp:revision>
  <dcterms:created xsi:type="dcterms:W3CDTF">2018-08-23T15:47:05Z</dcterms:created>
  <dcterms:modified xsi:type="dcterms:W3CDTF">2018-11-19T19:40:33Z</dcterms:modified>
</cp:coreProperties>
</file>